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9FB8D6"/>
                </a:solidFill>
                <a:latin typeface="Calibri"/>
              </a:rPr>
              <a:t>CUPID · Pile-up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5000" b="1" i="0">
                <a:solidFill>
                  <a:srgbClr val="FFFFFF"/>
                </a:solidFill>
                <a:latin typeface="Cambria"/>
              </a:rPr>
              <a:t>Pile-up Background Index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2600" b="0" i="0">
                <a:solidFill>
                  <a:srgbClr val="CADCFC"/>
                </a:solidFill>
                <a:latin typeface="Cambria"/>
              </a:rPr>
              <a:t>Octopus vs Argonauts cross-check on run m204</a:t>
            </a:r>
          </a:p>
        </p:txBody>
      </p:sp>
      <p:sp>
        <p:nvSpPr>
          <p:cNvPr id="5" name="Oval 4"/>
          <p:cNvSpPr/>
          <p:nvPr/>
        </p:nvSpPr>
        <p:spPr>
          <a:xfrm>
            <a:off x="841248" y="3794760"/>
            <a:ext cx="128016" cy="128016"/>
          </a:xfrm>
          <a:prstGeom prst="ellipse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" y="3794760"/>
            <a:ext cx="128016" cy="128016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0160" y="3794760"/>
            <a:ext cx="128016" cy="128016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700" b="0" i="0">
                <a:solidFill>
                  <a:srgbClr val="B8C6DC"/>
                </a:solidFill>
                <a:latin typeface="Calibri"/>
              </a:rPr>
              <a:t>Estimating each channel's pile-up BI, understanding why two processing pipelines disagree, and improving the filter.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E8871E"/>
                </a:solidFill>
                <a:latin typeface="Calibri"/>
              </a:rPr>
              <a:t>Progress update</a:t>
            </a:r>
            <a:r>
              <a:rPr sz="1400" b="0" i="0">
                <a:solidFill>
                  <a:srgbClr val="9FB8D6"/>
                </a:solidFill>
                <a:latin typeface="Calibri"/>
              </a:rPr>
              <a:t>     Alberto Zanelli  ·  6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How the Background Index is estimated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1">
                <a:solidFill>
                  <a:srgbClr val="5A6B7B"/>
                </a:solidFill>
                <a:latin typeface="Calibri"/>
              </a:rPr>
              <a:t>One independent estimate per channel, run in parallel on the cluster.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7315200" cy="93268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2093975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93391"/>
            <a:ext cx="6126480" cy="7498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4213D"/>
                </a:solidFill>
                <a:latin typeface="Calibri"/>
              </a:rPr>
              <a:t>Inputs per channel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Average pulse (AP) and noise power spectrum (NPS).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16935"/>
            <a:ext cx="7315200" cy="93268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136391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035807"/>
            <a:ext cx="6126480" cy="7498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4213D"/>
                </a:solidFill>
                <a:latin typeface="Calibri"/>
              </a:rPr>
              <a:t>Optimal filter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H = S*/NPS  →  analytic resolution σₒᵣ and SNR.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59351"/>
            <a:ext cx="7315200" cy="93268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" y="4178807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078223"/>
            <a:ext cx="6126480" cy="7498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4213D"/>
                </a:solidFill>
                <a:latin typeface="Calibri"/>
              </a:rPr>
              <a:t>Optimize band filters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Two filters f₁, f₂ trained to minimize the pile-up metric J.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001767"/>
            <a:ext cx="7315200" cy="93268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5221223"/>
            <a:ext cx="502920" cy="502920"/>
          </a:xfrm>
          <a:prstGeom prst="ellipse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5120639"/>
            <a:ext cx="6126480" cy="7498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4213D"/>
                </a:solidFill>
                <a:latin typeface="Calibri"/>
              </a:rPr>
              <a:t>Background Index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BI = J_final × K  (K from activity, LMO mass, exposure).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874519"/>
            <a:ext cx="3246120" cy="3977639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240280"/>
            <a:ext cx="3246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9FB8D6"/>
                </a:solidFill>
                <a:latin typeface="Calibri"/>
              </a:rPr>
              <a:t>THE ESTIMATOR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063240"/>
            <a:ext cx="32461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BI = J</a:t>
            </a:r>
            <a:r>
              <a:rPr sz="1600" b="1" i="0">
                <a:solidFill>
                  <a:srgbClr val="FFFFFF"/>
                </a:solidFill>
                <a:latin typeface="Cambria"/>
              </a:rPr>
              <a:t>final</a:t>
            </a:r>
            <a:r>
              <a:rPr sz="3200" b="1" i="0">
                <a:solidFill>
                  <a:srgbClr val="E8871E"/>
                </a:solidFill>
                <a:latin typeface="Cambria"/>
              </a:rPr>
              <a:t> × 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4160520"/>
            <a:ext cx="288036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E8871E"/>
                </a:solidFill>
                <a:latin typeface="Calibri"/>
              </a:rPr>
              <a:t>J</a:t>
            </a:r>
            <a:r>
              <a:rPr sz="1300" b="0" i="0">
                <a:solidFill>
                  <a:srgbClr val="CADCFC"/>
                </a:solidFill>
                <a:latin typeface="Calibri"/>
              </a:rPr>
              <a:t>  filter figure of merit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1" i="0">
                <a:solidFill>
                  <a:srgbClr val="E8871E"/>
                </a:solidFill>
                <a:latin typeface="Calibri"/>
              </a:rPr>
              <a:t>K</a:t>
            </a:r>
            <a:r>
              <a:rPr sz="1300" b="0" i="0">
                <a:solidFill>
                  <a:srgbClr val="CADCFC"/>
                </a:solidFill>
                <a:latin typeface="Calibri"/>
              </a:rPr>
              <a:t>  physics normalization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5A6B7B"/>
                </a:solidFill>
                <a:latin typeface="Calibri"/>
              </a:rPr>
              <a:t>Cluster-parallel: one qsub job per channel (analyze_BI_singlerun.py).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Comparing AP &amp; NPS across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1">
                <a:solidFill>
                  <a:srgbClr val="5A6B7B"/>
                </a:solidFill>
                <a:latin typeface="Calibri"/>
              </a:rPr>
              <a:t>Same physics, different conventions — they must be aligned before the BI is comparable.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5257800" cy="3794760"/>
          </a:xfrm>
          <a:prstGeom prst="roundRect">
            <a:avLst>
              <a:gd name="adj" fmla="val 60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3D5A8C"/>
                </a:solidFill>
                <a:latin typeface="Calibri"/>
              </a:rPr>
              <a:t>OCTOPUS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   ROOT histograms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754880" cy="274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A2332"/>
                </a:solidFill>
                <a:latin typeface="Courier New"/>
              </a:rPr>
              <a:t>AP:  averagepulse_ap_medianAP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 i="0">
                <a:solidFill>
                  <a:srgbClr val="1A2332"/>
                </a:solidFill>
                <a:latin typeface="Courier New"/>
              </a:rPr>
              <a:t>NPS: averagepowerspectrum_anps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400" b="1" i="0">
                <a:solidFill>
                  <a:srgbClr val="14213D"/>
                </a:solidFill>
                <a:latin typeface="Calibri"/>
              </a:rPr>
              <a:t>Normalization applied to NPS: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• one-sided → mirrored to two-sided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• × 5.708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• × window_size²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• × (1 / sampling_time)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74519"/>
            <a:ext cx="5257800" cy="3794760"/>
          </a:xfrm>
          <a:prstGeom prst="roundRect">
            <a:avLst>
              <a:gd name="adj" fmla="val 6000"/>
            </a:avLst>
          </a:prstGeom>
          <a:solidFill>
            <a:srgbClr val="FB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103120"/>
            <a:ext cx="47548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D87A2A"/>
                </a:solidFill>
                <a:latin typeface="Calibri"/>
              </a:rPr>
              <a:t>ARGONAUTS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   .bin binaries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743200"/>
            <a:ext cx="4754880" cy="274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A2332"/>
                </a:solidFill>
                <a:latin typeface="Courier New"/>
              </a:rPr>
              <a:t>AP:  *.bin_edmean.bin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 i="0">
                <a:solidFill>
                  <a:srgbClr val="1A2332"/>
                </a:solidFill>
                <a:latin typeface="Courier New"/>
              </a:rPr>
              <a:t>NPS: *.bin_spec.bin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400" b="1" i="0">
                <a:solidFill>
                  <a:srgbClr val="14213D"/>
                </a:solidFill>
                <a:latin typeface="Calibri"/>
              </a:rPr>
              <a:t>Normalization applied to NPS: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• already two-sided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• × 1e−12   (pW² → W²)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• × 8/3   (Hann window)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436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C7293"/>
                </a:solidFill>
                <a:latin typeface="Calibri"/>
              </a:rPr>
              <a:t>Once aligned, σₒᵣ and BI from the two pipelines land on the same scale — the comparison becomes meaningful.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Result: BI agrees on most channels</a:t>
            </a:r>
          </a:p>
        </p:txBody>
      </p:sp>
      <p:pic>
        <p:nvPicPr>
          <p:cNvPr id="4" name="Picture 3" descr="BI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02410"/>
            <a:ext cx="10908792" cy="30302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892040"/>
            <a:ext cx="1088136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2332"/>
                </a:solidFill>
                <a:latin typeface="Calibri"/>
              </a:rPr>
              <a:t>Agreement within a few percent on 7 of 9 channels (points on the y = x line). </a:t>
            </a:r>
            <a:r>
              <a:rPr sz="1600" b="1" i="0">
                <a:solidFill>
                  <a:srgbClr val="D87A2A"/>
                </a:solidFill>
                <a:latin typeface="Calibri"/>
              </a:rPr>
              <a:t>Two clear outliers: ch34 (+217%) and ch31 (+31%).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600" b="0" i="1">
                <a:solidFill>
                  <a:srgbClr val="5A6B7B"/>
                </a:solidFill>
                <a:latin typeface="Calibri"/>
              </a:rPr>
              <a:t>The difference is not driven by the measured signal amplitude — so what causes it?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 i="0">
                <a:solidFill>
                  <a:srgbClr val="14213D"/>
                </a:solidFill>
                <a:latin typeface="Cambria"/>
              </a:rPr>
              <a:t>Diagnosis: residual noise in the average 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1">
                <a:solidFill>
                  <a:srgbClr val="5A6B7B"/>
                </a:solidFill>
                <a:latin typeface="Calibri"/>
              </a:rPr>
              <a:t>The BI mismatch tracks noise left in the Octopus AP template — not the amplitude.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029200" cy="9601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2057400" cy="960120"/>
          </a:xfrm>
          <a:prstGeom prst="rect">
            <a:avLst/>
          </a:prstGeom>
          <a:noFill/>
        </p:spPr>
        <p:txBody>
          <a:bodyPr wrap="none" anchor="ctr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E8871E"/>
                </a:solidFill>
                <a:latin typeface="Cambria"/>
              </a:rPr>
              <a:t>r = +0.88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920240"/>
            <a:ext cx="256032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ΔBI  vs  AP high-frequency power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17520"/>
            <a:ext cx="5029200" cy="9601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17520"/>
            <a:ext cx="2057400" cy="960120"/>
          </a:xfrm>
          <a:prstGeom prst="rect">
            <a:avLst/>
          </a:prstGeom>
          <a:noFill/>
        </p:spPr>
        <p:txBody>
          <a:bodyPr wrap="none" anchor="ctr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5A6B7B"/>
                </a:solidFill>
                <a:latin typeface="Cambria"/>
              </a:rPr>
              <a:t>r = −0.59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3017520"/>
            <a:ext cx="256032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ΔBI  vs  amplitude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14800"/>
            <a:ext cx="5029200" cy="9601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114800"/>
            <a:ext cx="2057400" cy="960120"/>
          </a:xfrm>
          <a:prstGeom prst="rect">
            <a:avLst/>
          </a:prstGeom>
          <a:noFill/>
        </p:spPr>
        <p:txBody>
          <a:bodyPr wrap="none" anchor="ctr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5A6B7B"/>
                </a:solidFill>
                <a:latin typeface="Cambria"/>
              </a:rPr>
              <a:t>r = −0.07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4114800"/>
            <a:ext cx="256032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ΔBI  vs  analytic σₒᵣ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49240"/>
            <a:ext cx="50292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All correlations use percentage differences between the pipelines. Amplitude, σ, risetime and SNR do not explain the gap.</a:t>
            </a:r>
          </a:p>
        </p:txBody>
      </p:sp>
      <p:pic>
        <p:nvPicPr>
          <p:cNvPr id="15" name="Picture 14" descr="AP_noise_overlay_m2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474595"/>
            <a:ext cx="5577840" cy="209169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9320" y="5166360"/>
            <a:ext cx="557784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4213D"/>
                </a:solidFill>
                <a:latin typeface="Calibri"/>
              </a:rPr>
              <a:t>AP pre-trigger baseline (peak = 1). </a:t>
            </a:r>
            <a:r>
              <a:rPr sz="1300" b="0" i="0">
                <a:solidFill>
                  <a:srgbClr val="1A2332"/>
                </a:solidFill>
                <a:latin typeface="Calibri"/>
              </a:rPr>
              <a:t>Octopus (blue) oscillates at ±10⁻²; Argonauts (orange) is flat (~10⁻⁵). That leaked noise enters S and biases the optimal filter.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Quantifying the noise in one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1">
                <a:solidFill>
                  <a:srgbClr val="5A6B7B"/>
                </a:solidFill>
                <a:latin typeface="Calibri"/>
              </a:rPr>
              <a:t>Above ~500 Hz the pulse has no signal — any AP power there is noise. Integrate it.</a:t>
            </a:r>
          </a:p>
        </p:txBody>
      </p:sp>
      <p:pic>
        <p:nvPicPr>
          <p:cNvPr id="5" name="Picture 4" descr="AP_PSD_overlay_all_m2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531" y="1783080"/>
            <a:ext cx="6662057" cy="4663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03920" y="1965960"/>
            <a:ext cx="3063240" cy="1874519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2240280"/>
            <a:ext cx="3063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9FB8D6"/>
                </a:solidFill>
                <a:latin typeface="Calibri"/>
              </a:rPr>
              <a:t>AP HF-POWER ( &gt;500 Hz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788920"/>
            <a:ext cx="30632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 i="0">
                <a:solidFill>
                  <a:srgbClr val="E8871E"/>
                </a:solidFill>
                <a:latin typeface="Cambria"/>
              </a:rPr>
              <a:t>r = +0.88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3429000"/>
            <a:ext cx="3063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vs ΔBI  (best of all drivers)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4114800"/>
            <a:ext cx="306324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Per channel, the shaded band's power excess (Octopus − Argonauts) is the single number for the leaked noise.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  <a:spcAft>
                <a:spcPts val="2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ch34 shows +116% HF excess — exactly the channel with the largest BI gap.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E8871E"/>
                </a:solidFill>
                <a:latin typeface="Calibri"/>
              </a:rPr>
              <a:t>PART 2 · RUN m205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Load-curve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1">
                <a:solidFill>
                  <a:srgbClr val="5A6B7B"/>
                </a:solidFill>
                <a:latin typeface="Calibri"/>
              </a:rPr>
              <a:t>The same detectors swept across many operating points.</a:t>
            </a:r>
          </a:p>
        </p:txBody>
      </p:sp>
      <p:sp>
        <p:nvSpPr>
          <p:cNvPr id="6" name="Oval 5"/>
          <p:cNvSpPr/>
          <p:nvPr/>
        </p:nvSpPr>
        <p:spPr>
          <a:xfrm>
            <a:off x="713232" y="2377439"/>
            <a:ext cx="118872" cy="11887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58521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 i="0">
                <a:solidFill>
                  <a:srgbClr val="14213D"/>
                </a:solidFill>
                <a:latin typeface="Calibri"/>
              </a:rPr>
              <a:t>Load curve — </a:t>
            </a:r>
            <a:r>
              <a:rPr sz="1600" b="0" i="0">
                <a:solidFill>
                  <a:srgbClr val="1A2332"/>
                </a:solidFill>
                <a:latin typeface="Calibri"/>
              </a:rPr>
              <a:t>each channel measured at 15 bias voltages (working points).</a:t>
            </a:r>
          </a:p>
        </p:txBody>
      </p:sp>
      <p:sp>
        <p:nvSpPr>
          <p:cNvPr id="8" name="Oval 7"/>
          <p:cNvSpPr/>
          <p:nvPr/>
        </p:nvSpPr>
        <p:spPr>
          <a:xfrm>
            <a:off x="713232" y="3310127"/>
            <a:ext cx="118872" cy="11887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264408"/>
            <a:ext cx="58521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 i="0">
                <a:solidFill>
                  <a:srgbClr val="14213D"/>
                </a:solidFill>
                <a:latin typeface="Calibri"/>
              </a:rPr>
              <a:t>Sampling — </a:t>
            </a:r>
            <a:r>
              <a:rPr sz="1600" b="0" i="0">
                <a:solidFill>
                  <a:srgbClr val="1A2332"/>
                </a:solidFill>
                <a:latin typeface="Calibri"/>
              </a:rPr>
              <a:t>10 kHz, 10 000-sample window (1 s per waveform).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4242816"/>
            <a:ext cx="118872" cy="11887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197096"/>
            <a:ext cx="58521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 i="0">
                <a:solidFill>
                  <a:srgbClr val="14213D"/>
                </a:solidFill>
                <a:latin typeface="Calibri"/>
              </a:rPr>
              <a:t>Channels — </a:t>
            </a:r>
            <a:r>
              <a:rPr sz="1600" b="0" i="0">
                <a:solidFill>
                  <a:srgbClr val="1A2332"/>
                </a:solidFill>
                <a:latin typeface="Calibri"/>
              </a:rPr>
              <a:t>5 analyzed: 31, 34, 71, 83, 91.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5175503"/>
            <a:ext cx="118872" cy="11887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5129783"/>
            <a:ext cx="58521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 i="0">
                <a:solidFill>
                  <a:srgbClr val="14213D"/>
                </a:solidFill>
                <a:latin typeface="Calibri"/>
              </a:rPr>
              <a:t>Goal — </a:t>
            </a:r>
            <a:r>
              <a:rPr sz="1600" b="0" i="0">
                <a:solidFill>
                  <a:srgbClr val="1A2332"/>
                </a:solidFill>
                <a:latin typeface="Calibri"/>
              </a:rPr>
              <a:t>how the BI depends on the operating point and on the pulse/noise parameters, and where the BI-optimal working point lies.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331720"/>
            <a:ext cx="3931920" cy="324612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2606040"/>
            <a:ext cx="39319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9FB8D6"/>
                </a:solidFill>
                <a:latin typeface="Calibri"/>
              </a:rPr>
              <a:t>WORKING POINTS  ( V_bias 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154680"/>
            <a:ext cx="3383280" cy="1463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0.6 · 1.0 · 1.4 · 1.8 · 2 · 3 · 4 · 5 · 6 · 8 · 10 · 20 · 26 · 30 · 40 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4892040"/>
            <a:ext cx="39319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E8871E"/>
                </a:solidFill>
                <a:latin typeface="Calibri"/>
              </a:rPr>
              <a:t>15 WP · 10 kHz · 5 channels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BI vs bias voltage</a:t>
            </a:r>
          </a:p>
        </p:txBody>
      </p:sp>
      <p:pic>
        <p:nvPicPr>
          <p:cNvPr id="4" name="Picture 3" descr="BI_vs_Vbias_m2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84960"/>
            <a:ext cx="7040880" cy="4693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1828800"/>
            <a:ext cx="3840480" cy="32918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2057400"/>
            <a:ext cx="3291840" cy="2926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600" b="0" i="0">
                <a:solidFill>
                  <a:srgbClr val="1A2332"/>
                </a:solidFill>
                <a:latin typeface="Calibri"/>
              </a:rPr>
              <a:t>BI decreases with bias and plateaus above ~20 V.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  <a:spcAft>
                <a:spcPts val="200"/>
              </a:spcAft>
            </a:pPr>
            <a:r>
              <a:rPr sz="1600" b="1" i="0">
                <a:solidFill>
                  <a:srgbClr val="1C7293"/>
                </a:solidFill>
                <a:latin typeface="Calibri"/>
              </a:rPr>
              <a:t>The BI-optimal working point is at 40 V </a:t>
            </a:r>
            <a:r>
              <a:rPr sz="1600" b="0" i="0">
                <a:solidFill>
                  <a:srgbClr val="1A2332"/>
                </a:solidFill>
                <a:latin typeface="Calibri"/>
              </a:rPr>
              <a:t>for most channels.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  <a:spcAft>
                <a:spcPts val="200"/>
              </a:spcAft>
            </a:pPr>
            <a:r>
              <a:rPr sz="1600" b="1" i="0">
                <a:solidFill>
                  <a:srgbClr val="D87A2A"/>
                </a:solidFill>
                <a:latin typeface="Calibri"/>
              </a:rPr>
              <a:t>Ch 91 is anomalous</a:t>
            </a:r>
            <a:r>
              <a:rPr sz="1600" b="0" i="0">
                <a:solidFill>
                  <a:srgbClr val="1A2332"/>
                </a:solidFill>
                <a:latin typeface="Calibri"/>
              </a:rPr>
              <a:t> — flat and ~10× higher BI, unresponsive to bias.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BI vs all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9728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1">
                <a:solidFill>
                  <a:srgbClr val="5A6B7B"/>
                </a:solidFill>
                <a:latin typeface="Calibri"/>
              </a:rPr>
              <a:t>One hue per channel; shade = V_bias (light → dark). Monotonic vs risetime, decaytime, σ, HF-power; folded vs SNR/amplitude — the timing FoM SNR·β restores it.</a:t>
            </a:r>
          </a:p>
        </p:txBody>
      </p:sp>
      <p:pic>
        <p:nvPicPr>
          <p:cNvPr id="5" name="Picture 4" descr="BI_vs_parameters_vbiascolor_m2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285" y="1554480"/>
            <a:ext cx="638095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How the SNR is computed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1">
                <a:solidFill>
                  <a:srgbClr val="5A6B7B"/>
                </a:solidFill>
                <a:latin typeface="Calibri"/>
              </a:rPr>
              <a:t>The classic SNR is the optimum-filter amplitude resolution (in the CSV).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486400" cy="393192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486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9FB8D6"/>
                </a:solidFill>
                <a:latin typeface="Calibri"/>
              </a:rPr>
              <a:t>OPTIMUM FILTER</a:t>
            </a:r>
          </a:p>
        </p:txBody>
      </p:sp>
      <p:pic>
        <p:nvPicPr>
          <p:cNvPr id="7" name="Picture 6" descr="snr_I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880360"/>
            <a:ext cx="2559401" cy="457200"/>
          </a:xfrm>
          <a:prstGeom prst="rect">
            <a:avLst/>
          </a:prstGeom>
        </p:spPr>
      </p:pic>
      <p:pic>
        <p:nvPicPr>
          <p:cNvPr id="8" name="Picture 7" descr="snr_sig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794760"/>
            <a:ext cx="1761836" cy="457200"/>
          </a:xfrm>
          <a:prstGeom prst="rect">
            <a:avLst/>
          </a:prstGeom>
        </p:spPr>
      </p:pic>
      <p:pic>
        <p:nvPicPr>
          <p:cNvPr id="9" name="Picture 8" descr="snr_sn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709160"/>
            <a:ext cx="334772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0" y="2011680"/>
            <a:ext cx="4937760" cy="4023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600" b="1" i="0">
                <a:solidFill>
                  <a:srgbClr val="14213D"/>
                </a:solidFill>
                <a:latin typeface="Calibri"/>
              </a:rPr>
              <a:t>S(f) </a:t>
            </a:r>
            <a:r>
              <a:rPr sz="1600" b="0" i="0">
                <a:solidFill>
                  <a:srgbClr val="1A2332"/>
                </a:solidFill>
                <a:latin typeface="Calibri"/>
              </a:rPr>
              <a:t>= FFT of the average pulse (its spectrum).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200"/>
              </a:spcAft>
            </a:pPr>
            <a:r>
              <a:rPr sz="1600" b="1" i="0">
                <a:solidFill>
                  <a:srgbClr val="14213D"/>
                </a:solidFill>
                <a:latin typeface="Calibri"/>
              </a:rPr>
              <a:t>N(f) </a:t>
            </a:r>
            <a:r>
              <a:rPr sz="1600" b="0" i="0">
                <a:solidFill>
                  <a:srgbClr val="1A2332"/>
                </a:solidFill>
                <a:latin typeface="Calibri"/>
              </a:rPr>
              <a:t>= noise power spectrum (NPS).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200"/>
              </a:spcAft>
            </a:pPr>
            <a:r>
              <a:rPr sz="1600" b="1" i="0">
                <a:solidFill>
                  <a:srgbClr val="14213D"/>
                </a:solidFill>
                <a:latin typeface="Calibri"/>
              </a:rPr>
              <a:t>A </a:t>
            </a:r>
            <a:r>
              <a:rPr sz="1600" b="0" i="0">
                <a:solidFill>
                  <a:srgbClr val="1A2332"/>
                </a:solidFill>
                <a:latin typeface="Calibri"/>
              </a:rPr>
              <a:t>= signal amplitude.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  <a:spcAft>
                <a:spcPts val="200"/>
              </a:spcAft>
            </a:pPr>
            <a:r>
              <a:rPr sz="1600" b="0" i="0">
                <a:solidFill>
                  <a:srgbClr val="1A2332"/>
                </a:solidFill>
                <a:latin typeface="Calibri"/>
              </a:rPr>
              <a:t>The filter weights each frequency by |S|²/N and sums over ALL of them. So the SNR is a broadband number — it does not care WHERE, in frequency, signal and noise sit.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A pile-up figure of merit: SNR · 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1">
                <a:solidFill>
                  <a:srgbClr val="5A6B7B"/>
                </a:solidFill>
                <a:latin typeface="Calibri"/>
              </a:rPr>
              <a:t>Pile-up needs the fast edges → weight the noise by frequency (Cramér–Rao timing bound).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4114800" cy="420624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_I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86000"/>
            <a:ext cx="1989165" cy="411480"/>
          </a:xfrm>
          <a:prstGeom prst="rect">
            <a:avLst/>
          </a:prstGeom>
        </p:spPr>
      </p:pic>
      <p:pic>
        <p:nvPicPr>
          <p:cNvPr id="7" name="Picture 6" descr="t_be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063240"/>
            <a:ext cx="2477438" cy="502920"/>
          </a:xfrm>
          <a:prstGeom prst="rect">
            <a:avLst/>
          </a:prstGeom>
        </p:spPr>
      </p:pic>
      <p:pic>
        <p:nvPicPr>
          <p:cNvPr id="8" name="Picture 7" descr="t_sigm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94760"/>
            <a:ext cx="1625600" cy="548640"/>
          </a:xfrm>
          <a:prstGeom prst="rect">
            <a:avLst/>
          </a:prstGeom>
        </p:spPr>
      </p:pic>
      <p:pic>
        <p:nvPicPr>
          <p:cNvPr id="9" name="Picture 8" descr="t_rh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663440"/>
            <a:ext cx="2219022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5349240"/>
            <a:ext cx="3657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β = pulse bandwidth ≈ 1/risetime.  Large ρ_t → lower BI.</a:t>
            </a:r>
          </a:p>
        </p:txBody>
      </p:sp>
      <p:pic>
        <p:nvPicPr>
          <p:cNvPr id="11" name="Picture 10" descr="timing_weight_m2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1783080"/>
            <a:ext cx="6766560" cy="3383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37760" y="5257800"/>
            <a:ext cx="667512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</a:rPr>
              <a:t>Blue = amplitude weight |S|²/N (low-f, what SNR uses).  Red = timing weight (2πf)²|S|²/N (near 1/risetime).  </a:t>
            </a:r>
            <a:r>
              <a:rPr sz="1300" b="1" i="0">
                <a:solidFill>
                  <a:srgbClr val="1C7293"/>
                </a:solidFill>
                <a:latin typeface="Calibri"/>
              </a:rPr>
              <a:t>BI monotonicity: SNR 0.57 → SNR·β 0.96.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E8871E"/>
                </a:solidFill>
                <a:latin typeface="Calibri"/>
              </a:rPr>
              <a:t>PART 3 · A BETTER FILTER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A trainable Wiener filter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1">
                <a:solidFill>
                  <a:srgbClr val="5A6B7B"/>
                </a:solidFill>
                <a:latin typeface="Calibri"/>
              </a:rPr>
              <a:t>The optimum filter maximizes amplitude SNR; pile-up instead needs sharp, separable pulses. The Wiener filter deconvolves the pulse shape — a trainable λ sets the balance.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4343400" cy="393192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4343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9FB8D6"/>
                </a:solidFill>
                <a:latin typeface="Calibri"/>
              </a:rPr>
              <a:t>TRAINABLE WIENER FILTER</a:t>
            </a:r>
          </a:p>
        </p:txBody>
      </p:sp>
      <p:pic>
        <p:nvPicPr>
          <p:cNvPr id="8" name="Picture 7" descr="w_wie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971800"/>
            <a:ext cx="1959713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3977639"/>
            <a:ext cx="379476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E8871E"/>
                </a:solidFill>
                <a:latin typeface="Calibri"/>
              </a:rPr>
              <a:t>λ → 0 </a:t>
            </a:r>
            <a:r>
              <a:rPr sz="1400" b="0" i="0">
                <a:solidFill>
                  <a:srgbClr val="E8EEF8"/>
                </a:solidFill>
                <a:latin typeface="Calibri"/>
              </a:rPr>
              <a:t> deconvolution: sharpen the edges, separate close pulses.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200"/>
              </a:spcAft>
            </a:pPr>
            <a:r>
              <a:rPr sz="1500" b="1" i="0">
                <a:solidFill>
                  <a:srgbClr val="E8871E"/>
                </a:solidFill>
                <a:latin typeface="Calibri"/>
              </a:rPr>
              <a:t>λ → ∞ </a:t>
            </a:r>
            <a:r>
              <a:rPr sz="1400" b="0" i="0">
                <a:solidFill>
                  <a:srgbClr val="E8EEF8"/>
                </a:solidFill>
                <a:latin typeface="Calibri"/>
              </a:rPr>
              <a:t> recovers the optimum filter.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200"/>
              </a:spcAft>
            </a:pPr>
            <a:r>
              <a:rPr sz="1500" b="1" i="0">
                <a:solidFill>
                  <a:srgbClr val="E8871E"/>
                </a:solidFill>
                <a:latin typeface="Calibri"/>
              </a:rPr>
              <a:t>λ </a:t>
            </a:r>
            <a:r>
              <a:rPr sz="1400" b="0" i="0">
                <a:solidFill>
                  <a:srgbClr val="E8EEF8"/>
                </a:solidFill>
                <a:latin typeface="Calibri"/>
              </a:rPr>
              <a:t> is trained jointly with the band filters f₁, f₂ to minimize the same BI metric J.</a:t>
            </a:r>
          </a:p>
        </p:txBody>
      </p:sp>
      <p:pic>
        <p:nvPicPr>
          <p:cNvPr id="10" name="Picture 9" descr="lambda_vs_Vbias_m205_wie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900" y="2148840"/>
            <a:ext cx="4800600" cy="3200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12080" y="5440680"/>
            <a:ext cx="649224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14213D"/>
                </a:solidFill>
                <a:latin typeface="Calibri"/>
              </a:rPr>
              <a:t>λ is learned per channel and working point — not fixed. </a:t>
            </a:r>
            <a:r>
              <a:rPr sz="1400" b="0" i="0">
                <a:solidFill>
                  <a:srgbClr val="1A2332"/>
                </a:solidFill>
                <a:latin typeface="Calibri"/>
              </a:rPr>
              <a:t>It spans ~10⁻⁵ (ch91, deconvolution-dominated) to ~10² (ch31, near optimum filter): each detector picks its own noise-vs-deconvolution balance.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4213D"/>
                </a:solidFill>
                <a:latin typeface="Cambria"/>
              </a:rPr>
              <a:t>Wiener vs optimum: the BI drops on every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33856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1">
                <a:solidFill>
                  <a:srgbClr val="5A6B7B"/>
                </a:solidFill>
                <a:latin typeface="Calibri"/>
              </a:rPr>
              <a:t>Same estimator, same working points — only the filter changes. Improvement = percentage decrease of the BI.</a:t>
            </a:r>
          </a:p>
        </p:txBody>
      </p:sp>
      <p:pic>
        <p:nvPicPr>
          <p:cNvPr id="5" name="Picture 4" descr="BI_improvement_vs_Vbias_m2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10" y="1691640"/>
            <a:ext cx="5280660" cy="3520440"/>
          </a:xfrm>
          <a:prstGeom prst="rect">
            <a:avLst/>
          </a:prstGeom>
        </p:spPr>
      </p:pic>
      <p:pic>
        <p:nvPicPr>
          <p:cNvPr id="6" name="Picture 5" descr="BI_improvement_per_channel_m2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950" y="1691640"/>
            <a:ext cx="5280660" cy="3520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5440680"/>
            <a:ext cx="10927080" cy="96012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504688"/>
            <a:ext cx="237744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3400" b="1" i="0">
                <a:solidFill>
                  <a:srgbClr val="E8871E"/>
                </a:solidFill>
                <a:latin typeface="Cambria"/>
              </a:rPr>
              <a:t>−7.4%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5532120"/>
            <a:ext cx="82296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mean BI improvement</a:t>
            </a:r>
            <a:r>
              <a:rPr sz="1500" b="0" i="0">
                <a:solidFill>
                  <a:srgbClr val="CADCFC"/>
                </a:solidFill>
                <a:latin typeface="Calibri"/>
              </a:rPr>
              <a:t> — the Wiener filter lowers the BI on every channel and every bias point. 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spcAft>
                <a:spcPts val="2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Largest on ch91 (+12.6%), the anomalous detector; up to +27% at individual ch34 working points.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