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9FB8D6"/>
                </a:solidFill>
                <a:latin typeface="Calibri"/>
              </a:rPr>
              <a:t>CUPID · Pile-up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Pile-up Background Index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600" b="0" i="0">
                <a:solidFill>
                  <a:srgbClr val="CADCFC"/>
                </a:solidFill>
                <a:latin typeface="Cambria"/>
              </a:rPr>
              <a:t>Octopus vs Argonauts cross-check on run m204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3794760"/>
            <a:ext cx="128016" cy="128016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" y="37947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7947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B8C6DC"/>
                </a:solidFill>
                <a:latin typeface="Calibri"/>
              </a:rPr>
              <a:t>Estimating each channel's pile-up BI, understanding why two processing pipelines disagree, and improving the filter.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Progress update</a:t>
            </a:r>
            <a:r>
              <a:rPr sz="1400" b="0" i="0">
                <a:solidFill>
                  <a:srgbClr val="9FB8D6"/>
                </a:solidFill>
                <a:latin typeface="Calibri"/>
              </a:rPr>
              <a:t>     Alberto Zanelli  ·  3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How the Background Index is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One independent estimate per channel, run in parallel on the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93975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93391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Inputs per channel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Average pulse (AP) and noise power spectrum (NPS).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6935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136391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35807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Optimal filter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H = S*/NPS  →  analytic resolution σₒᵣ and SNR.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9351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178807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78223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Optimize band filters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Two filters f₁, f₂ trained to minimize the pile-up metric J.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01767"/>
            <a:ext cx="731520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221223"/>
            <a:ext cx="502920" cy="5029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20639"/>
            <a:ext cx="6126480" cy="749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Background Index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BI = J_final × K  (K from activity, LMO mass, exposure).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74519"/>
            <a:ext cx="3246120" cy="3977639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9FB8D6"/>
                </a:solidFill>
                <a:latin typeface="Calibri"/>
              </a:rPr>
              <a:t>THE ESTIMATOR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BI = J</a:t>
            </a:r>
            <a:r>
              <a:rPr sz="1600" b="1" i="0">
                <a:solidFill>
                  <a:srgbClr val="FFFFFF"/>
                </a:solidFill>
                <a:latin typeface="Cambria"/>
              </a:rPr>
              <a:t>final</a:t>
            </a:r>
            <a:r>
              <a:rPr sz="3200" b="1" i="0">
                <a:solidFill>
                  <a:srgbClr val="E8871E"/>
                </a:solidFill>
                <a:latin typeface="Cambria"/>
              </a:rPr>
              <a:t> ×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60520"/>
            <a:ext cx="28803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J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filter figure of merit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K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physics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Cluster-parallel: one qsub job per channel (analyze_BI_singlerun.py).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Comparing AP &amp; NPS across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Same physics, different conventions — they must be aligned before the BI is comparable.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3794760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3D5A8C"/>
                </a:solidFill>
                <a:latin typeface="Calibri"/>
              </a:rPr>
              <a:t>OCTOPUS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ROOT histograms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AP:  averagepulse_ap_medianAP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NPS: averagepowerspectrum_anps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Normalization applied to NPS: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one-sided → mirrored to two-sided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5.708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window_size²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(1 / sampling_time)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257800" cy="3794760"/>
          </a:xfrm>
          <a:prstGeom prst="roundRect">
            <a:avLst>
              <a:gd name="adj" fmla="val 6000"/>
            </a:avLst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D87A2A"/>
                </a:solidFill>
                <a:latin typeface="Calibri"/>
              </a:rPr>
              <a:t>ARGONAUTS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   .bin binaries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AP:  *.bin_edmean.bin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ourier New"/>
              </a:rPr>
              <a:t>NPS: *.bin_spec.bin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Normalization applied to NPS: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already two-sided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1e−12   (pW² → W²)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× 8/3   (Hann window)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Once aligned, σₒᵣ and BI from the two pipelines land on the same scale — the comparison becomes meaningful.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Result: BI agrees on most channels</a:t>
            </a:r>
          </a:p>
        </p:txBody>
      </p:sp>
      <p:pic>
        <p:nvPicPr>
          <p:cNvPr id="4" name="Picture 3" descr="B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2410"/>
            <a:ext cx="10908792" cy="3030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108813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Agreement within a few percent on 7 of 9 channels (points on the y = x line). </a:t>
            </a:r>
            <a:r>
              <a:rPr sz="1600" b="1" i="0">
                <a:solidFill>
                  <a:srgbClr val="D87A2A"/>
                </a:solidFill>
                <a:latin typeface="Calibri"/>
              </a:rPr>
              <a:t>Two clear outliers: ch34 (+217%) and ch31 (+31%).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difference is not driven by the measured signal amplitude — so what causes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Diagnosis: residual noise in the average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BI mismatch tracks noise left in the Octopus AP template — not the amplitude.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E8871E"/>
                </a:solidFill>
                <a:latin typeface="Cambria"/>
              </a:rPr>
              <a:t>r = +0.88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2024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AP high-frequency power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5A6B7B"/>
                </a:solidFill>
                <a:latin typeface="Cambria"/>
              </a:rPr>
              <a:t>r = −0.59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amplitude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2057400" cy="96012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5A6B7B"/>
                </a:solidFill>
                <a:latin typeface="Cambria"/>
              </a:rPr>
              <a:t>r = −0.07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114800"/>
            <a:ext cx="25603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ΔBI  vs  analytic σₒᵣ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50292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All correlations use percentage differences between the pipelines. Amplitude, σ, risetime and SNR do not explain the gap.</a:t>
            </a:r>
          </a:p>
        </p:txBody>
      </p:sp>
      <p:pic>
        <p:nvPicPr>
          <p:cNvPr id="15" name="Picture 14" descr="AP_noise_overlay_m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74595"/>
            <a:ext cx="5577840" cy="20916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166360"/>
            <a:ext cx="5577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4213D"/>
                </a:solidFill>
                <a:latin typeface="Calibri"/>
              </a:rPr>
              <a:t>AP pre-trigger baseline (peak = 1).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Octopus (blue) oscillates at ±10⁻²; Argonauts (orange) is flat (~10⁻⁵). That leaked noise enters S and biases the optimal filter.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Quantifying the noise in one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Above ~500 Hz the pulse has no signal — any AP power there is noise. Integrate it.</a:t>
            </a:r>
          </a:p>
        </p:txBody>
      </p:sp>
      <p:pic>
        <p:nvPicPr>
          <p:cNvPr id="5" name="Picture 4" descr="AP_PSD_overlay_all_m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1" y="1783080"/>
            <a:ext cx="6662057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965960"/>
            <a:ext cx="3063240" cy="1874519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24028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9FB8D6"/>
                </a:solidFill>
                <a:latin typeface="Calibri"/>
              </a:rPr>
              <a:t>AP HF-POWER ( &gt;500 Hz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788920"/>
            <a:ext cx="3063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E8871E"/>
                </a:solidFill>
                <a:latin typeface="Cambria"/>
              </a:rPr>
              <a:t>r = +0.88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42900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vs ΔBI  (best of all drivers)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114800"/>
            <a:ext cx="30632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Per channel, the shaded band's power excess (Octopus − Argonauts) is the single number for the leaked noise.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ch34 shows +116% HF excess — exactly the channel with the largest BI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PART 2 · RUN m205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Load-curve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same detectors swept across many operating points.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377439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Load curve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each channel measured at 15 bias voltages (working points).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310127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264408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Sampling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10 kHz, 10 000-sample window (1 s per waveform).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4242816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97096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Channels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5 analyzed: 31, 34, 71, 83, 91.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5175503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29783"/>
            <a:ext cx="5852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Goal —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how the BI depends on the operating point and on the pulse/noise parameters, and where the BI-optimal working point 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331720"/>
            <a:ext cx="3931920" cy="3246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06040"/>
            <a:ext cx="3931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9FB8D6"/>
                </a:solidFill>
                <a:latin typeface="Calibri"/>
              </a:rPr>
              <a:t>WORKING POINTS  ( V_bias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54680"/>
            <a:ext cx="3383280" cy="1463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0.6 · 1.0 · 1.4 · 1.8 · 2 · 3 · 4 · 5 · 6 · 8 · 10 · 20 · 26 · 30 · 40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892040"/>
            <a:ext cx="3931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E8871E"/>
                </a:solidFill>
                <a:latin typeface="Calibri"/>
              </a:rPr>
              <a:t>15 WP · 10 kHz · 5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BI vs bias voltage</a:t>
            </a:r>
          </a:p>
        </p:txBody>
      </p:sp>
      <p:pic>
        <p:nvPicPr>
          <p:cNvPr id="4" name="Picture 3" descr="BI_vs_Vbias_m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4960"/>
            <a:ext cx="7040880" cy="4693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828800"/>
            <a:ext cx="3840480" cy="3291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05740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BI decreases with bias and plateaus above ~20 V.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The BI-optimal working point is at 40 V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for most channels.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D87A2A"/>
                </a:solidFill>
                <a:latin typeface="Calibri"/>
              </a:rPr>
              <a:t>Ch 91 is anomalous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 — flat and ~10× higher BI, unresponsive to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BI vs all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5A6B7B"/>
                </a:solidFill>
                <a:latin typeface="Calibri"/>
              </a:rPr>
              <a:t>One hue per channel; shade = V_bias (light → dark). Monotonic vs risetime, decaytime, σ, HF-power; folded vs SNR/amplitude — the timing FoM SNR·β restores it.</a:t>
            </a:r>
          </a:p>
        </p:txBody>
      </p:sp>
      <p:pic>
        <p:nvPicPr>
          <p:cNvPr id="5" name="Picture 4" descr="BI_vs_parameters_vbiascolor_m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285" y="1554480"/>
            <a:ext cx="638095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How the SNR is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The classic SNR is the optimum-filter amplitude resolution (in the CSV).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9FB8D6"/>
                </a:solidFill>
                <a:latin typeface="Calibri"/>
              </a:rPr>
              <a:t>OPTIMUM FILTER</a:t>
            </a:r>
          </a:p>
        </p:txBody>
      </p:sp>
      <p:pic>
        <p:nvPicPr>
          <p:cNvPr id="7" name="Picture 6" descr="snr_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80360"/>
            <a:ext cx="2559401" cy="457200"/>
          </a:xfrm>
          <a:prstGeom prst="rect">
            <a:avLst/>
          </a:prstGeom>
        </p:spPr>
      </p:pic>
      <p:pic>
        <p:nvPicPr>
          <p:cNvPr id="8" name="Picture 7" descr="snr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94760"/>
            <a:ext cx="1761836" cy="457200"/>
          </a:xfrm>
          <a:prstGeom prst="rect">
            <a:avLst/>
          </a:prstGeom>
        </p:spPr>
      </p:pic>
      <p:pic>
        <p:nvPicPr>
          <p:cNvPr id="9" name="Picture 8" descr="snr_sn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709160"/>
            <a:ext cx="33477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2011680"/>
            <a:ext cx="493776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S(f)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FFT of the average pulse (its spectrum).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N(f)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noise power spectrum (NPS).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A </a:t>
            </a:r>
            <a:r>
              <a:rPr sz="1600" b="0" i="0">
                <a:solidFill>
                  <a:srgbClr val="1A2332"/>
                </a:solidFill>
                <a:latin typeface="Calibri"/>
              </a:rPr>
              <a:t>= signal amplitude.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  <a:spcAft>
                <a:spcPts val="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</a:rPr>
              <a:t>The filter weights each frequency by |S|²/N and sums over ALL of them. So the SNR is a broadband number — it does not care WHERE, in frequency, signal and noise 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A pile-up figure of merit: SNR · 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5A6B7B"/>
                </a:solidFill>
                <a:latin typeface="Calibri"/>
              </a:rPr>
              <a:t>Pile-up needs the fast edges → weight the noise by frequency (Cramér–Rao timing bound).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_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1989165" cy="411480"/>
          </a:xfrm>
          <a:prstGeom prst="rect">
            <a:avLst/>
          </a:prstGeom>
        </p:spPr>
      </p:pic>
      <p:pic>
        <p:nvPicPr>
          <p:cNvPr id="7" name="Picture 6" descr="t_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63240"/>
            <a:ext cx="2477438" cy="502920"/>
          </a:xfrm>
          <a:prstGeom prst="rect">
            <a:avLst/>
          </a:prstGeom>
        </p:spPr>
      </p:pic>
      <p:pic>
        <p:nvPicPr>
          <p:cNvPr id="8" name="Picture 7" descr="t_sigm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1625600" cy="548640"/>
          </a:xfrm>
          <a:prstGeom prst="rect">
            <a:avLst/>
          </a:prstGeom>
        </p:spPr>
      </p:pic>
      <p:pic>
        <p:nvPicPr>
          <p:cNvPr id="9" name="Picture 8" descr="t_r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63440"/>
            <a:ext cx="221902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34924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β = pulse bandwidth ≈ 1/risetime.  Large ρ_t → lower BI.</a:t>
            </a:r>
          </a:p>
        </p:txBody>
      </p:sp>
      <p:pic>
        <p:nvPicPr>
          <p:cNvPr id="11" name="Picture 10" descr="timing_weight_m2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783080"/>
            <a:ext cx="676656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5257800"/>
            <a:ext cx="66751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Blue = amplitude weight |S|²/N (low-f, what SNR uses).  Red = timing weight (2πf)²|S|²/N (near 1/risetime).  </a:t>
            </a:r>
            <a:r>
              <a:rPr sz="1300" b="1" i="0">
                <a:solidFill>
                  <a:srgbClr val="1C7293"/>
                </a:solidFill>
                <a:latin typeface="Calibri"/>
              </a:rPr>
              <a:t>BI monotonicity: SNR 0.57 → SNR·β 0.96.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